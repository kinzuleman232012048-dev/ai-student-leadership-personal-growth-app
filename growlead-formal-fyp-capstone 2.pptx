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70" r:id="rId12"/>
    <p:sldId id="271" r:id="rId13"/>
    <p:sldId id="273" r:id="rId14"/>
    <p:sldId id="274" r:id="rId15"/>
    <p:sldId id="276" r:id="rId16"/>
    <p:sldId id="278" r:id="rId17"/>
    <p:sldId id="279" r:id="rId18"/>
    <p:sldId id="282" r:id="rId19"/>
    <p:sldId id="283" r:id="rId20"/>
    <p:sldId id="284" r:id="rId21"/>
    <p:sldId id="28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>
        <p:scale>
          <a:sx n="74" d="100"/>
          <a:sy n="74" d="100"/>
        </p:scale>
        <p:origin x="3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36751"/>
            <a:ext cx="90680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EB8FF"/>
                </a:solidFill>
                <a:latin typeface="Aptos Mono"/>
              </a:defRPr>
            </a:pPr>
            <a:r>
              <a:rPr sz="2000" dirty="0"/>
              <a:t>FINAL YEAR PROJECT · CAPSTONE PRESENTATION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00" b="1">
                <a:solidFill>
                  <a:srgbClr val="FFFFFF"/>
                </a:solidFill>
                <a:latin typeface="Aptos Display"/>
              </a:defRPr>
            </a:pPr>
            <a:r>
              <a:t>GrowLead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80467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D7E1F0"/>
                </a:solidFill>
                <a:latin typeface="Aptos"/>
              </a:defRPr>
            </a:pPr>
            <a:r>
              <a:rPr dirty="0"/>
              <a:t>AI-Powered Personal &amp; Leadership Development Platform for Students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"/>
              </a:defRPr>
            </a:pPr>
            <a:r>
              <a:rPr dirty="0"/>
              <a:t>Track yourself. Understand yourself. Improve yourself.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048445" y="5036993"/>
            <a:ext cx="35034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9C8DB"/>
                </a:solidFill>
                <a:latin typeface="Aptos Mono"/>
              </a:defRPr>
            </a:pPr>
            <a:r>
              <a:rPr sz="2000" dirty="0"/>
              <a:t>Presented by: </a:t>
            </a:r>
            <a:r>
              <a:rPr sz="2000" dirty="0" err="1"/>
              <a:t>Kinzul</a:t>
            </a:r>
            <a:r>
              <a:rPr sz="2000" dirty="0"/>
              <a:t> </a:t>
            </a:r>
            <a:r>
              <a:rPr sz="2000" dirty="0" err="1"/>
              <a:t>Eman</a:t>
            </a:r>
            <a:br>
              <a:rPr sz="2000" dirty="0"/>
            </a:br>
            <a:r>
              <a:rPr sz="2000" dirty="0"/>
              <a:t>BS Computer Science</a:t>
            </a:r>
            <a:br>
              <a:rPr sz="2000" dirty="0"/>
            </a:br>
            <a:r>
              <a:rPr sz="2000" dirty="0"/>
              <a:t>Pakistan Global Institute · 2023–2027</a:t>
            </a: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EB1CA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EB1CA"/>
                </a:solidFill>
                <a:latin typeface="Aptos Mono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5188" y="754590"/>
            <a:ext cx="109728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 · EXISTING </a:t>
            </a:r>
            <a:r>
              <a:rPr lang="en-US" sz="2000" dirty="0"/>
              <a:t> PROBLEM </a:t>
            </a:r>
            <a:r>
              <a:rPr sz="2000" dirty="0"/>
              <a:t>LDP</a:t>
            </a:r>
            <a:endParaRPr lang="en-US" sz="2000" dirty="0"/>
          </a:p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lang="en-US" sz="2000" dirty="0"/>
              <a:t> 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40079" y="122485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The current workflow is functional, but fragmented.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02631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026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827"/>
                </a:solidFill>
                <a:latin typeface="Aptos"/>
              </a:defRPr>
            </a:pPr>
            <a:r>
              <a:t>Perform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9542" y="291693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74E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2422" y="2743200"/>
            <a:ext cx="202631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2422" y="2926080"/>
            <a:ext cx="2026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827"/>
                </a:solidFill>
                <a:latin typeface="Aptos"/>
              </a:defRPr>
            </a:pPr>
            <a:r>
              <a:t>Record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0444" y="291693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74E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3324" y="2743200"/>
            <a:ext cx="202631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3324" y="2926080"/>
            <a:ext cx="2026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827"/>
                </a:solidFill>
                <a:latin typeface="Aptos"/>
              </a:defRPr>
            </a:pPr>
            <a:r>
              <a:t>Submit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1347" y="291693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74E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4227" y="2743200"/>
            <a:ext cx="202631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04227" y="2926080"/>
            <a:ext cx="2026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827"/>
                </a:solidFill>
                <a:latin typeface="Aptos"/>
              </a:defRPr>
            </a:pPr>
            <a:r>
              <a:t>Professor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2249" y="291693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74E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5129" y="2743200"/>
            <a:ext cx="2026310" cy="658368"/>
          </a:xfrm>
          <a:prstGeom prst="roundRect">
            <a:avLst/>
          </a:prstGeom>
          <a:solidFill>
            <a:srgbClr val="174EA6"/>
          </a:solidFill>
          <a:ln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5129" y="2926080"/>
            <a:ext cx="2026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Marks &amp; 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69080"/>
            <a:ext cx="11" cy="1"/>
          </a:xfrm>
          <a:prstGeom prst="rect">
            <a:avLst/>
          </a:prstGeom>
          <a:solidFill>
            <a:srgbClr val="EAF1FB"/>
          </a:solidFill>
          <a:ln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5188" y="3932236"/>
            <a:ext cx="103085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 b="1">
                <a:solidFill>
                  <a:srgbClr val="111827"/>
                </a:solidFill>
                <a:latin typeface="Aptos"/>
              </a:defRPr>
            </a:pPr>
            <a:r>
              <a:rPr dirty="0"/>
              <a:t>Information may be distributed across journals, photos, messaging applications, forms and spreadsheets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 b="1">
                <a:solidFill>
                  <a:srgbClr val="111827"/>
                </a:solidFill>
                <a:latin typeface="Aptos"/>
              </a:defRPr>
            </a:pPr>
            <a:r>
              <a:rPr lang="en-US" b="1" dirty="0"/>
              <a:t>Current LDPs rely on manual, physical record-keeping 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  <a:defRPr sz="1800" b="1">
                <a:solidFill>
                  <a:srgbClr val="111827"/>
                </a:solidFill>
                <a:latin typeface="Aptos"/>
              </a:defRPr>
            </a:pPr>
            <a:r>
              <a:rPr lang="en-US" b="1" dirty="0"/>
              <a:t>Disconnected tracking mechanisms reduce student engagement and reflective depth</a:t>
            </a:r>
            <a:endParaRPr lang="en-US" dirty="0"/>
          </a:p>
          <a:p>
            <a:pPr>
              <a:defRPr sz="1800" b="1">
                <a:solidFill>
                  <a:srgbClr val="111827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40080" y="1970461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6472"/>
                </a:solidFill>
                <a:latin typeface="Aptos"/>
              </a:defRPr>
            </a:pPr>
            <a:r>
              <a:rPr dirty="0"/>
              <a:t>Personal and leadership programs develop habits, reflection, service and self-awareness.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0783" y="934843"/>
            <a:ext cx="10972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 · PROBLEM DEFINITION</a:t>
            </a:r>
            <a:endParaRPr lang="en-US" sz="2000" dirty="0"/>
          </a:p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48978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The process records activity, but does not create development intelligence.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79705"/>
            <a:ext cx="566928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5B6472"/>
                </a:solidFill>
                <a:latin typeface="Aptos"/>
              </a:defRPr>
            </a:pPr>
            <a:r>
              <a:rPr dirty="0"/>
              <a:t>Manual record keeping and evidence collection</a:t>
            </a:r>
            <a:endParaRPr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5B6472"/>
                </a:solidFill>
                <a:latin typeface="Aptos"/>
              </a:defRPr>
            </a:pPr>
            <a:r>
              <a:rPr dirty="0"/>
              <a:t>Limited visibility into long-term progress</a:t>
            </a:r>
            <a:endParaRPr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5B6472"/>
                </a:solidFill>
                <a:latin typeface="Aptos"/>
              </a:defRPr>
            </a:pPr>
            <a:r>
              <a:rPr dirty="0"/>
              <a:t>Time-consuming evaluation and feedback</a:t>
            </a:r>
            <a:endParaRPr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5B6472"/>
                </a:solidFill>
                <a:latin typeface="Aptos"/>
              </a:defRPr>
            </a:pPr>
            <a:r>
              <a:rPr dirty="0"/>
              <a:t>No personalized guidance for improvement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5B6472"/>
                </a:solidFill>
                <a:latin typeface="Aptos"/>
              </a:defRPr>
            </a:pPr>
            <a:r>
              <a:rPr lang="en-US" dirty="0"/>
              <a:t>Not proper mentorship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315200" y="2331720"/>
            <a:ext cx="4" cy="3"/>
          </a:xfrm>
          <a:prstGeom prst="roundRect">
            <a:avLst/>
          </a:prstGeom>
          <a:solidFill>
            <a:srgbClr val="10233F"/>
          </a:solidFill>
          <a:ln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2651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8EB8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6576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rPr dirty="0"/>
              <a:t>Where do I currently stand, and what should I improve next?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18221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 · PROBLEM IMPACT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278601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The same gap affects three stakeholder groups.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660904"/>
            <a:ext cx="3099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STUDENTS</a:t>
            </a: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880872" y="3235251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Low visibility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96112" y="3611880"/>
            <a:ext cx="30998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sz="1600" dirty="0"/>
              <a:t>Students can complete tasks without understanding strengths, weak areas or trends.</a:t>
            </a: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4389120" y="251460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660904"/>
            <a:ext cx="3099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PROFESSORS</a:t>
            </a:r>
            <a:endParaRPr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4576572" y="3108293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High administration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553712" y="3611880"/>
            <a:ext cx="30998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sz="1600" dirty="0"/>
              <a:t>Instructors manually collect, check, score and report on submissions.</a:t>
            </a:r>
            <a:endParaRPr sz="1600" dirty="0"/>
          </a:p>
        </p:txBody>
      </p:sp>
      <p:sp>
        <p:nvSpPr>
          <p:cNvPr id="14" name="Rounded Rectangle 13"/>
          <p:cNvSpPr/>
          <p:nvPr/>
        </p:nvSpPr>
        <p:spPr>
          <a:xfrm>
            <a:off x="8046720" y="251460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660904"/>
            <a:ext cx="3099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UNIVERSITIES</a:t>
            </a:r>
            <a:endParaRPr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8211312" y="3108293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Limited analytics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211312" y="3611880"/>
            <a:ext cx="30998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sz="1600" dirty="0"/>
              <a:t>Program leaders lack a centralized view of participation and development outcomes.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2622" y="825815"/>
            <a:ext cx="10942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EB8FF"/>
                </a:solidFill>
                <a:latin typeface="Aptos Mono"/>
              </a:defRPr>
            </a:pPr>
            <a:r>
              <a:rPr sz="2000" dirty="0"/>
              <a:t> · PROPOSED SOLUTION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97382" y="134595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Introducing </a:t>
            </a:r>
            <a:r>
              <a:rPr dirty="0" err="1"/>
              <a:t>GrowLead</a:t>
            </a:r>
            <a:r>
              <a:rPr dirty="0"/>
              <a:t>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27862" y="209821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D7E1F0"/>
                </a:solidFill>
                <a:latin typeface="Aptos"/>
              </a:defRPr>
            </a:pPr>
            <a:r>
              <a:rPr dirty="0"/>
              <a:t>A centralized platform that transforms development data into clear, actionable insight.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EB1CA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EB1CA"/>
                </a:solidFill>
                <a:latin typeface="Aptos Mono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2026310" cy="658368"/>
          </a:xfrm>
          <a:prstGeom prst="roundRect">
            <a:avLst/>
          </a:prstGeom>
          <a:solidFill>
            <a:srgbClr val="1B304F"/>
          </a:solidFill>
          <a:ln>
            <a:solidFill>
              <a:srgbClr val="8E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026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9542" y="319125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EB8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2422" y="3017520"/>
            <a:ext cx="2026310" cy="658368"/>
          </a:xfrm>
          <a:prstGeom prst="roundRect">
            <a:avLst/>
          </a:prstGeom>
          <a:solidFill>
            <a:srgbClr val="1B304F"/>
          </a:solidFill>
          <a:ln>
            <a:solidFill>
              <a:srgbClr val="8E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2422" y="3200400"/>
            <a:ext cx="2026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Perform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0444" y="319125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EB8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3324" y="3017520"/>
            <a:ext cx="2026310" cy="658368"/>
          </a:xfrm>
          <a:prstGeom prst="roundRect">
            <a:avLst/>
          </a:prstGeom>
          <a:solidFill>
            <a:srgbClr val="1B304F"/>
          </a:solidFill>
          <a:ln>
            <a:solidFill>
              <a:srgbClr val="8E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3324" y="3200400"/>
            <a:ext cx="2026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1347" y="319125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EB8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4227" y="3017520"/>
            <a:ext cx="2026310" cy="658368"/>
          </a:xfrm>
          <a:prstGeom prst="roundRect">
            <a:avLst/>
          </a:prstGeom>
          <a:solidFill>
            <a:srgbClr val="1B304F"/>
          </a:solidFill>
          <a:ln>
            <a:solidFill>
              <a:srgbClr val="8E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04227" y="3200400"/>
            <a:ext cx="2026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2249" y="319125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EB8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95129" y="3017520"/>
            <a:ext cx="2026310" cy="658368"/>
          </a:xfrm>
          <a:prstGeom prst="roundRect">
            <a:avLst/>
          </a:prstGeom>
          <a:solidFill>
            <a:srgbClr val="174EA6"/>
          </a:solidFill>
          <a:ln>
            <a:solidFill>
              <a:srgbClr val="8E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95129" y="3200400"/>
            <a:ext cx="20263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7862" y="4115461"/>
            <a:ext cx="81749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Centralizes university personal development goal management and activity tracking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Integrates digital journaling, reading tracking, and community service logs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Facilitates activity evidence submission with direct instructor feedback loops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Monitors real-time personal growth via AI-driven personalized recommendations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Balances academic deadlines alongside self-development milestones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8971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 · SYSTEM USERS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408521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Designed for the people who manage and experience development.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706624"/>
            <a:ext cx="3099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PRIMARY USER</a:t>
            </a: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896112" y="303580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University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657600"/>
            <a:ext cx="30998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sz="1600" dirty="0"/>
              <a:t>Set goals, record activities, submit evidence, view progress and receive recommendations.</a:t>
            </a: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706624"/>
            <a:ext cx="3099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PROFESSIONAL USER</a:t>
            </a:r>
            <a:endParaRPr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4553712" y="303580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Professors &amp; mentors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657600"/>
            <a:ext cx="30998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sz="1600" dirty="0"/>
              <a:t>Review submissions, evaluate evidence, provide feedback and monitor progress.</a:t>
            </a:r>
            <a:endParaRPr sz="1600" dirty="0"/>
          </a:p>
        </p:txBody>
      </p:sp>
      <p:sp>
        <p:nvSpPr>
          <p:cNvPr id="14" name="Rounded Rectangle 13"/>
          <p:cNvSpPr/>
          <p:nvPr/>
        </p:nvSpPr>
        <p:spPr>
          <a:xfrm>
            <a:off x="8046720" y="256032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706624"/>
            <a:ext cx="3099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INSTITUTIONAL USER</a:t>
            </a:r>
            <a:endParaRPr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8211312" y="303580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Universities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3657600"/>
            <a:ext cx="30998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sz="1600" dirty="0"/>
              <a:t>Digitize LDP, centralize records and analyze program-level engagement.</a:t>
            </a:r>
            <a:endParaRPr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1557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 · FUNCTIONAL SCOPE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159561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The platform covers the complete development lifecycle.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3500" y="2231136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96112" y="229514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TRACK</a:t>
            </a:r>
            <a:endParaRPr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Goals · Journal ·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10078"/>
            <a:ext cx="3099816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Capture goals, reflections and reading progress.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553712" y="234086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CONTRIBUTE</a:t>
            </a:r>
            <a:endParaRPr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4553712" y="267004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Leadership ·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9702" y="3139973"/>
            <a:ext cx="3099816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Record activities, impact and evidence.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046720" y="21945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34086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EVALUATE</a:t>
            </a:r>
            <a:endParaRPr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8211312" y="267004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Evidence ·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6072" y="3150039"/>
            <a:ext cx="3099816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Support instructor review, scoring and reports.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09264" y="4145077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21538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UNDERSTAND</a:t>
            </a:r>
            <a:endParaRPr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896112" y="454456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Analytics ·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032524"/>
            <a:ext cx="3099816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Show status, trends and development index.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4389120" y="40690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421538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IMPROVE</a:t>
            </a:r>
            <a:endParaRPr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4553712" y="454456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AI Coach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7448" y="4973474"/>
            <a:ext cx="3099816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Generate recommendations and next actions.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8031480" y="4089018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421538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MANAGE</a:t>
            </a:r>
            <a:endParaRPr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8211312" y="454456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Deadlines · Reminders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5005477"/>
            <a:ext cx="3099816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Combine academic tasks with LDP responsibilities.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94944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 · PROGRESS ANALYTICS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13385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 err="1"/>
              <a:t>GrowLead</a:t>
            </a:r>
            <a:r>
              <a:rPr dirty="0"/>
              <a:t> compares the student with their previous self.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331720"/>
          <a:ext cx="6400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6583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t>Previous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Goals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dirty="0"/>
                        <a:t>72%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+17%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+30%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Physical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−8%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Community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dirty="0"/>
                        <a:t>+20%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2651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ptos"/>
              </a:defRPr>
            </a:pPr>
            <a:r>
              <a:t>Self-improvement, not competition.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3749039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B6472"/>
                </a:solidFill>
                <a:latin typeface="Aptos"/>
              </a:defRPr>
            </a:pPr>
            <a:r>
              <a:t>Trend data helps students recognize improvement, decline and the next priority.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092" y="615063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 · PERSONAL DEVELOPMENT INDEX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0607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A proposed score summarizes progress across development areas.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48840"/>
          <a:ext cx="57607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46862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Goal achievement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Mental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Physical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Reading / intellectual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Leadership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Community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6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Reflection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2331720"/>
            <a:ext cx="4" cy="3"/>
          </a:xfrm>
          <a:prstGeom prst="roundRect">
            <a:avLst/>
          </a:prstGeom>
          <a:solidFill>
            <a:srgbClr val="10233F"/>
          </a:solidFill>
          <a:ln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2834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8EB8FF"/>
                </a:solidFill>
                <a:latin typeface="Aptos"/>
              </a:defRPr>
            </a:pPr>
            <a:r>
              <a:t>78/100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37490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Personal Development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45720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7E1F0"/>
                </a:solidFill>
                <a:latin typeface="Aptos"/>
              </a:defRPr>
            </a:pPr>
            <a:r>
              <a:t>Initial weights will be validated with the LDP instructor or supervisor.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· PRODUCTIVITY SUPPORT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GrowLead connects personal development with academic workload.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331720"/>
          <a:ext cx="6400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67665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rPr sz="1400"/>
                        <a:t>Responsibility</a:t>
                      </a:r>
                      <a:endParaRPr sz="1400"/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rPr sz="1400"/>
                        <a:t>Due</a:t>
                      </a:r>
                      <a:endParaRPr sz="1400"/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rPr sz="1400"/>
                        <a:t>Priority</a:t>
                      </a:r>
                      <a:endParaRPr sz="1400"/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LDP journal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Tonight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1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 dirty="0"/>
                        <a:t>DBMS assignment</a:t>
                      </a:r>
                      <a:endParaRPr sz="14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Tomorrow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2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Exercise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Today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3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Reading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This week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 dirty="0"/>
                        <a:t>4</a:t>
                      </a:r>
                      <a:endParaRPr sz="14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35240" y="2331720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B6472"/>
                </a:solidFill>
                <a:latin typeface="Aptos"/>
              </a:defRPr>
            </a:pPr>
            <a:r>
              <a:t>Deadline countdowns</a:t>
            </a:r>
          </a:p>
          <a:p>
            <a:pPr>
              <a:spcAft>
                <a:spcPts val="800"/>
              </a:spcAft>
              <a:defRPr sz="1700">
                <a:solidFill>
                  <a:srgbClr val="5B6472"/>
                </a:solidFill>
                <a:latin typeface="Aptos"/>
              </a:defRPr>
            </a:pPr>
            <a:r>
              <a:t>Reminders and missed-task detection</a:t>
            </a:r>
          </a:p>
          <a:p>
            <a:pPr>
              <a:spcAft>
                <a:spcPts val="800"/>
              </a:spcAft>
              <a:defRPr sz="1700">
                <a:solidFill>
                  <a:srgbClr val="5B6472"/>
                </a:solidFill>
                <a:latin typeface="Aptos"/>
              </a:defRPr>
            </a:pPr>
            <a:r>
              <a:t>Priority management</a:t>
            </a:r>
          </a:p>
          <a:p>
            <a:pPr>
              <a:spcAft>
                <a:spcPts val="800"/>
              </a:spcAft>
              <a:defRPr sz="1700">
                <a:solidFill>
                  <a:srgbClr val="5B6472"/>
                </a:solidFill>
                <a:latin typeface="Aptos"/>
              </a:defRPr>
            </a:pPr>
            <a:r>
              <a:t>AI-assisted workload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7220" y="609188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 · TECHNOLOGY </a:t>
            </a:r>
            <a:r>
              <a:rPr lang="en-US" sz="2000" dirty="0"/>
              <a:t> USED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092113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A practical, modular architecture for a capstone prototype.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9514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FRONTEND</a:t>
            </a:r>
            <a:endParaRPr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896112" y="262432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Flutter + Dart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46120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Cross-platform student mobile application.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25112" y="2199132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6572" y="229514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BACKEND</a:t>
            </a:r>
            <a:endParaRPr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4553712" y="262432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Firebase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3065527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Authentication, </a:t>
            </a:r>
            <a:r>
              <a:rPr dirty="0" err="1"/>
              <a:t>Firestore</a:t>
            </a:r>
            <a:r>
              <a:rPr dirty="0"/>
              <a:t>, Storage and Cloud Functions.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046720" y="214884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29514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AI / ANALYTICS</a:t>
            </a:r>
            <a:endParaRPr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8211312" y="262432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6072" y="3065527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Pandas, NumPy, NLP/LLM APIs and recommendation logic.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31520" y="4251602"/>
            <a:ext cx="3429000" cy="1565694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30682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INSTRUCTOR</a:t>
            </a:r>
            <a:endParaRPr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896112" y="463600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Web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074920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Submission review, evaluation, reports and monitoring.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4389120" y="41605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430682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DEVELOPMENT</a:t>
            </a:r>
            <a:endParaRPr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4553712" y="463600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VS Code + Android Studio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6092" y="5034449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Implementation, testing and device support.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7909560" y="4270248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430682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VERSIONING</a:t>
            </a:r>
            <a:endParaRPr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8211312" y="463600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Git / 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6072" y="5135809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Source control, collaboration and release history.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619204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 · SOFTWARE REQUIREMENTS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Functional requirements are organized by user value.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65960"/>
          <a:ext cx="107899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6477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rPr sz="1400" dirty="0"/>
                        <a:t>Area</a:t>
                      </a:r>
                      <a:endParaRPr sz="1400" dirty="0"/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rPr sz="1400"/>
                        <a:t>Key requirements</a:t>
                      </a:r>
                      <a:endParaRPr sz="1400"/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User management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Registration, authentication, profiles and role-based access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Development tracking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Goals, activities, journal, reading, reflection and service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Evidence &amp; evaluation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Upload, review, approval, scoring, feedback and reports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AI &amp; analytics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Dashboard, index, journal insights, pattern detection and recommendations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Productivity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 dirty="0"/>
                        <a:t>Scheduling, reminders, deadlines, priority, rescheduling and workload guidance</a:t>
                      </a:r>
                      <a:endParaRPr sz="14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22376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 · NON-FUNCTIONAL REQUIREMENTS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95979" y="12070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The platform must be useful, secure and explainable.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4086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SECURITY</a:t>
            </a:r>
            <a:endParaRPr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Protect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872" y="3175643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Secure authentication, role-based access and protected evidence.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73880" y="2211119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34086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PERFORMANCE</a:t>
            </a:r>
            <a:endParaRPr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4553712" y="267004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Respond quickly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6092" y="3161598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Fast dashboard loading and efficient database operations.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046720" y="2211119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34086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USABILITY</a:t>
            </a:r>
            <a:endParaRPr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8211312" y="267004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Stay simple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3170224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Clear navigation and mobile-friendly interaction.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31520" y="41605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30682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RELIABILITY</a:t>
            </a:r>
            <a:endParaRPr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896112" y="463600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Preserve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066985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Error handling, dependable storage and recovery considerations.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4389120" y="41605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430682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SCALABILITY</a:t>
            </a:r>
            <a:endParaRPr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4553712" y="463600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Support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8472" y="5084064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Modular architecture for increasing students and institutions.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8046720" y="41605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430682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PRIVACY &amp; AI</a:t>
            </a:r>
            <a:endParaRPr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8211312" y="463600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Explain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5064483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Protect reflections and provide understandable recommendations.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32289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 · VALUE PROPOSITION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8503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One platform instead of disconnected tools.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3744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789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57476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rPr sz="1400"/>
                        <a:t>Current challenge</a:t>
                      </a:r>
                      <a:endParaRPr sz="1400"/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rPr sz="1400"/>
                        <a:t>GrowLead response</a:t>
                      </a:r>
                      <a:endParaRPr sz="1400"/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Paper or manual journals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Digital journal and activity records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 dirty="0"/>
                        <a:t>Scattered evidence</a:t>
                      </a:r>
                      <a:endParaRPr sz="14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Centralized evidence storage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Manual progress monitoring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Real-time dashboard and reports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No personalized guidance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AI recommendations and pattern detection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Manual instructor evaluation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Professor review and feedback dashboard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Missed tasks and deadlines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 dirty="0"/>
                        <a:t>Reminders, priorities and workload support</a:t>
                      </a:r>
                      <a:endParaRPr sz="14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76483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· RESEARCH PROBLEM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11245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The project investigates whether personalized intelligence can improve development management.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1" cy="1"/>
          </a:xfrm>
          <a:prstGeom prst="rect">
            <a:avLst/>
          </a:prstGeom>
          <a:solidFill>
            <a:srgbClr val="EAF1FB"/>
          </a:solidFill>
          <a:ln>
            <a:solidFill>
              <a:srgbClr val="17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1827"/>
                </a:solidFill>
                <a:latin typeface="Aptos"/>
              </a:defRPr>
            </a:pPr>
            <a:r>
              <a:t>How can AI and behavioral analytics provide personalized recommendations for improving university students’ personal and leadership development?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6280" y="3931921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032504"/>
            <a:ext cx="3099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600" dirty="0"/>
              <a:t>RQ1</a:t>
            </a:r>
            <a:endParaRPr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896112" y="436168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71" y="4727448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Can dashboards help students identify strengths and areas for improvement?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4389120" y="388620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4032504"/>
            <a:ext cx="3099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600" dirty="0"/>
              <a:t>RQ2</a:t>
            </a:r>
            <a:endParaRPr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4553712" y="436168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0852" y="4727448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Can digital tracking improve development-activity completion?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8046720" y="388620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4032504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1400" dirty="0"/>
              <a:t>RQ3</a:t>
            </a:r>
            <a:endParaRPr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8211312" y="436168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6072" y="4724860"/>
            <a:ext cx="309981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dirty="0"/>
              <a:t>Can centralized evaluation reduce instructor administration?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57294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 · RESEARCH GAP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17220" y="130534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Existing tools often solve one part of the problem.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23744"/>
            <a:ext cx="3099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lang="en-US" sz="2000" dirty="0"/>
              <a:t>HABIT APPS</a:t>
            </a: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896112" y="285292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Track habits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74720"/>
            <a:ext cx="3099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sz="1400" dirty="0"/>
              <a:t>Useful for consistency, but not designed for university leadership development.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4389120" y="237744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523744"/>
            <a:ext cx="3099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TASK APPS</a:t>
            </a:r>
            <a:endParaRPr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4553712" y="285292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Manage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474720"/>
            <a:ext cx="3099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sz="1400" dirty="0"/>
              <a:t>Useful for deadlines, but do not capture reflection, evidence and evaluation.</a:t>
            </a:r>
            <a:endParaRPr sz="1400" dirty="0"/>
          </a:p>
        </p:txBody>
      </p:sp>
      <p:sp>
        <p:nvSpPr>
          <p:cNvPr id="14" name="Rounded Rectangle 13"/>
          <p:cNvSpPr/>
          <p:nvPr/>
        </p:nvSpPr>
        <p:spPr>
          <a:xfrm>
            <a:off x="8046720" y="2377440"/>
            <a:ext cx="3429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523744"/>
            <a:ext cx="3099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LEADERSHIP TOOLS</a:t>
            </a:r>
            <a:endParaRPr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8211312" y="285292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Support programs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3474720"/>
            <a:ext cx="3099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rPr sz="1400" dirty="0"/>
              <a:t>May support leadership, but not the full development and workload loop.</a:t>
            </a:r>
            <a:endParaRPr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4EA6"/>
                </a:solidFill>
                <a:latin typeface="Aptos"/>
              </a:defRPr>
            </a:pPr>
            <a:r>
              <a:t>Research gap: limited integration of holistic student development, instructor evaluation, behavioral analytics and personalized next actions.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 · DEVELOPMENT MILESTONES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A 20-week implementation roadmap.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3721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rPr sz="1400"/>
                        <a:t>Weeks</a:t>
                      </a:r>
                      <a:endParaRPr sz="1400"/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rPr sz="1400"/>
                        <a:t>Milestone</a:t>
                      </a:r>
                      <a:endParaRPr sz="1400"/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3B70"/>
                          </a:solidFill>
                          <a:latin typeface="Aptos"/>
                        </a:defRPr>
                      </a:pPr>
                      <a:r>
                        <a:rPr sz="1400"/>
                        <a:t>Primary outputs</a:t>
                      </a:r>
                      <a:endParaRPr sz="1400"/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1–2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Problem and literature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Problem definition, initial review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3–4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Requirements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Interviews, questionnaire, SRS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 dirty="0"/>
                        <a:t>5–6</a:t>
                      </a:r>
                      <a:endParaRPr sz="14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Design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UI/UX, database, architecture, UML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7–12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 dirty="0"/>
                        <a:t>Core development</a:t>
                      </a:r>
                      <a:endParaRPr sz="14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Authentication, tracking, journal, evidence, dashboard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13–15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AI and analytics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Index, patterns, recommendations, reminders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16–17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Testing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System, usability and AI testing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18–20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/>
                        <a:t>Evaluation and delivery</a:t>
                      </a:r>
                      <a:endParaRPr sz="14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rPr sz="1400" dirty="0"/>
                        <a:t>User evaluation, documentation, final presentation</a:t>
                      </a:r>
                      <a:endParaRPr sz="14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58799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 · LIMITATIONS AND FUTURE SCOPE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171295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Ambitious in direction, responsible in claims.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472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ptos Mono"/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212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40864"/>
            <a:ext cx="4882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LIMITATIONS</a:t>
            </a: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4882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Current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91839"/>
            <a:ext cx="48828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t>AI recommendations may be inaccurate.</a:t>
            </a:r>
            <a:br/>
            <a:r>
              <a:t>AI cannot independently verify real-world activity.</a:t>
            </a:r>
            <a:br/>
            <a:r>
              <a:t>Index weights require validation.</a:t>
            </a:r>
            <a:br/>
            <a:r>
              <a:t>Results may depend on a limited sample.</a:t>
            </a:r>
            <a:br/>
            <a:r>
              <a:t>Privacy and data quality remain critical.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5212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340864"/>
            <a:ext cx="4882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4EA6"/>
                </a:solidFill>
                <a:latin typeface="Aptos Mono"/>
              </a:defRPr>
            </a:pPr>
            <a:r>
              <a:rPr sz="2000" dirty="0"/>
              <a:t>FUTURE SCOPE</a:t>
            </a:r>
            <a:endParaRPr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6382512" y="2670048"/>
            <a:ext cx="4882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ptos Display"/>
              </a:defRPr>
            </a:pPr>
            <a:r>
              <a:t>Expansion 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291839"/>
            <a:ext cx="48828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472"/>
                </a:solidFill>
                <a:latin typeface="Aptos"/>
              </a:defRPr>
            </a:pPr>
            <a:r>
              <a:t>Calendar and wearable integration.</a:t>
            </a:r>
            <a:br/>
            <a:r>
              <a:t>Voice journaling and multilingual AI.</a:t>
            </a:r>
            <a:br/>
            <a:r>
              <a:t>Institution-wide analytics.</a:t>
            </a:r>
            <a:br/>
            <a:r>
              <a:t>Advanced leadership assessment.</a:t>
            </a:r>
            <a:br/>
            <a:r>
              <a:t>Long-term development tracking.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13079"/>
            <a:ext cx="109728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EB8FF"/>
                </a:solidFill>
                <a:latin typeface="Aptos Mono"/>
              </a:defRPr>
            </a:pPr>
            <a:r>
              <a:rPr sz="2000" dirty="0"/>
              <a:t> · EXPECTED RESULTS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A</a:t>
            </a:r>
            <a:r>
              <a:rPr lang="en-US" dirty="0"/>
              <a:t>n Expected result </a:t>
            </a:r>
            <a:r>
              <a:rPr dirty="0"/>
              <a:t>that makes development measurable and manageable.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EB1CA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EB1CA"/>
                </a:solidFill>
                <a:latin typeface="Aptos Mono"/>
              </a:defRPr>
            </a:pPr>
            <a: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429000" cy="2468880"/>
          </a:xfrm>
          <a:prstGeom prst="roundRect">
            <a:avLst/>
          </a:prstGeom>
          <a:solidFill>
            <a:srgbClr val="1B304F"/>
          </a:solidFill>
          <a:ln>
            <a:solidFill>
              <a:srgbClr val="41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706624"/>
            <a:ext cx="3099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B8FF"/>
                </a:solidFill>
                <a:latin typeface="Aptos Mono"/>
              </a:defRPr>
            </a:pPr>
            <a:r>
              <a:rPr sz="2000" dirty="0"/>
              <a:t>FOR</a:t>
            </a:r>
            <a:r>
              <a:rPr dirty="0"/>
              <a:t> </a:t>
            </a:r>
            <a:r>
              <a:rPr sz="2000" dirty="0"/>
              <a:t>STUDENTS</a:t>
            </a: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896112" y="303580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Better 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657600"/>
            <a:ext cx="30998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6E0EE"/>
                </a:solidFill>
                <a:latin typeface="Aptos"/>
              </a:defRPr>
            </a:pPr>
            <a:r>
              <a:t>See progress, strengths, weak areas and actionable next steps.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3429000" cy="2468880"/>
          </a:xfrm>
          <a:prstGeom prst="roundRect">
            <a:avLst/>
          </a:prstGeom>
          <a:solidFill>
            <a:srgbClr val="1B304F"/>
          </a:solidFill>
          <a:ln>
            <a:solidFill>
              <a:srgbClr val="41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6092" y="2706624"/>
            <a:ext cx="3099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B8FF"/>
                </a:solidFill>
                <a:latin typeface="Aptos Mono"/>
              </a:defRPr>
            </a:pPr>
            <a:r>
              <a:rPr sz="2000" dirty="0"/>
              <a:t>FOR PROFESSORS</a:t>
            </a:r>
            <a:endParaRPr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4553712" y="303580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Less administration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657600"/>
            <a:ext cx="30998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6E0EE"/>
                </a:solidFill>
                <a:latin typeface="Aptos"/>
              </a:defRPr>
            </a:pPr>
            <a:r>
              <a:t>Review evidence, score submissions and provide feedback centrally.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60320"/>
            <a:ext cx="3429000" cy="2468880"/>
          </a:xfrm>
          <a:prstGeom prst="roundRect">
            <a:avLst/>
          </a:prstGeom>
          <a:solidFill>
            <a:srgbClr val="1B304F"/>
          </a:solidFill>
          <a:ln>
            <a:solidFill>
              <a:srgbClr val="41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706624"/>
            <a:ext cx="3099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B8FF"/>
                </a:solidFill>
                <a:latin typeface="Aptos Mono"/>
              </a:defRPr>
            </a:pPr>
            <a:r>
              <a:rPr sz="2000" dirty="0"/>
              <a:t>FOR UNIVERSITIES</a:t>
            </a:r>
            <a:endParaRPr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8211312" y="3035808"/>
            <a:ext cx="3099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Scalable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3657600"/>
            <a:ext cx="30998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6E0EE"/>
                </a:solidFill>
                <a:latin typeface="Aptos"/>
              </a:defRPr>
            </a:pPr>
            <a:r>
              <a:t>Digitize LDP and support data-informed student development.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EB8FF"/>
                </a:solidFill>
                <a:latin typeface="Aptos Mono"/>
              </a:defRPr>
            </a:pPr>
            <a:r>
              <a:rPr sz="2000" dirty="0"/>
              <a:t> · CONCLUSION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GrowLead transforms personal development from manual record-keeping into an intelligent, measurable and continuous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EB8FF"/>
                </a:solidFill>
                <a:latin typeface="Aptos"/>
              </a:defRPr>
            </a:pPr>
            <a:r>
              <a:t>Track  →  Evaluate  →  Analyze  →  Recommend  →  Improve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D7E1F0"/>
                </a:solidFill>
                <a:latin typeface="Aptos"/>
              </a:defRPr>
            </a:pPr>
            <a:r>
              <a:t>Thank you · 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EB1CA"/>
                </a:solidFill>
                <a:latin typeface="Aptos Mono"/>
              </a:defRPr>
            </a:pPr>
            <a:r>
              <a:t>GROWLEAD · FYP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EB1CA"/>
                </a:solidFill>
                <a:latin typeface="Aptos Mono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8982</Words>
  <Application>WPS Presentation</Application>
  <PresentationFormat>Widescreen</PresentationFormat>
  <Paragraphs>664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SimSun</vt:lpstr>
      <vt:lpstr>Wingdings</vt:lpstr>
      <vt:lpstr>Arial</vt:lpstr>
      <vt:lpstr>Aptos Mono</vt:lpstr>
      <vt:lpstr>Segoe UI</vt:lpstr>
      <vt:lpstr>Aptos Display</vt:lpstr>
      <vt:lpstr>Aptos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dc:description>generated using python-pptx</dc:description>
  <cp:lastModifiedBy>imana</cp:lastModifiedBy>
  <cp:revision>18</cp:revision>
  <dcterms:created xsi:type="dcterms:W3CDTF">2013-01-27T09:14:00Z</dcterms:created>
  <dcterms:modified xsi:type="dcterms:W3CDTF">2026-10-05T13:34:55Z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4D70F5C2039147BFBEE6A672373878D2_12</vt:lpwstr>
  </property>
  <property fmtid="{D5CDD505-2E9C-101B-9397-08002B2CF9AE}" pid="3" name="KSOProductBuildVer">
    <vt:lpwstr>1033-12.1.0.28485</vt:lpwstr>
  </property>
</Properties>
</file>